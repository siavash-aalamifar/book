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</ns0:sldIdLst>
  <ns0:sldSz cx="12192000" cy="6858000" type="screen4x3"/>
  <ns0:notesSz cx="6858000" cy="9144000"/>
  <ns0:embeddedFontLst>
    <ns0:embeddedFont>
      <ns0:font typeface="Vazirmatn"/>
      <ns0:bold ns1:id="rIdFont23"/>
      <ns0:regular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Font23" Type="http://schemas.openxmlformats.org/officeDocument/2006/relationships/font" Target="fonts/87114159-1d4d-4245-8d87-5e7b7aa4fd4d.fntdata" /><ns0:Relationship Id="rIdFont24" Type="http://schemas.openxmlformats.org/officeDocument/2006/relationships/font" Target="fonts/9377f1c0-291d-499d-9272-54df0ada6c4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0" y="433000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489894"/>
            <a:ext cx="110680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38BDF8"/>
                </a:solidFill>
                <a:latin typeface="Vazirmatn"/>
              </a:rPr>
              <a:t>کتاب کار و فناوری پایه ششم ابتدایی - فصل دوم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2743200" y="2880419"/>
            <a:ext cx="14325600" cy="639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b="1" sz="4200" i="0" u="none">
                <a:solidFill>
                  <a:srgbClr val="FFFFFF"/>
                </a:solidFill>
                <a:latin typeface="Vazirmatn"/>
              </a:rPr>
              <a:t>رایانه‌ها همه جا هستند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8025" y="3710880"/>
            <a:ext cx="833437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Vazirmatn"/>
              </a:rPr>
              <a:t>آشنایی با نقش رایانه‌ها در زندگی روزمره، سخت‌افزار، نرم‌افزار و امنیت دیجیتال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8400" y="2447925"/>
            <a:ext cx="5334000" cy="13716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4010025"/>
            <a:ext cx="5334000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81175"/>
            <a:ext cx="533400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300" y="2714625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5675" y="4276725"/>
            <a:ext cx="23812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39052" y="457200"/>
            <a:ext cx="1162145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0F172A"/>
                </a:solidFill>
                <a:latin typeface="Vazirmatn"/>
              </a:rPr>
              <a:t>جهان پیرامون و حضور رایانه‌ها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3147" y="2676525"/>
            <a:ext cx="5220652" cy="304800"/>
          </a:xfrm>
          <a:prstGeom prst="rect">
            <a:avLst/>
          </a:prstGeom>
          <a:noFill/>
        </p:spPr>
        <p:txBody>
          <a:bodyPr wrap="square" lIns="28575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رایانه‌های مخفی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3057525"/>
            <a:ext cx="49720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Vazirmatn"/>
              </a:rPr>
              <a:t>حضور پردازنده‌ها در لوازمی مانند ماشین لباسشویی، تلویزیون و خودروها.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3147" y="4238625"/>
            <a:ext cx="5220652" cy="304800"/>
          </a:xfrm>
          <a:prstGeom prst="rect">
            <a:avLst/>
          </a:prstGeom>
          <a:noFill/>
        </p:spPr>
        <p:txBody>
          <a:bodyPr wrap="square" lIns="333375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ارتباطات هوشمند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4619625"/>
            <a:ext cx="49720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Vazirmatn"/>
              </a:rPr>
              <a:t>تبادل داده‌ها میان دستگاه‌ها برای ساده‌تر کردن کارهای روزانه.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77200" y="3038475"/>
            <a:ext cx="35052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38475"/>
            <a:ext cx="35052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38475"/>
            <a:ext cx="35052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39052" y="457200"/>
            <a:ext cx="1162145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0F172A"/>
                </a:solidFill>
                <a:latin typeface="Vazirmatn"/>
              </a:rPr>
              <a:t>سخت‌افزار رایانه (اجزای فیزیکی)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5297" y="3305175"/>
            <a:ext cx="322040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F172A"/>
                </a:solidFill>
                <a:latin typeface="Vazirmatn"/>
              </a:rPr>
              <a:t>پردازنده (CPU)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8650" y="3724275"/>
            <a:ext cx="30670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مغز متفکر رایانه و انجام محاسبات اصلی سیستم.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1497" y="3305175"/>
            <a:ext cx="322040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F172A"/>
                </a:solidFill>
                <a:latin typeface="Vazirmatn"/>
              </a:rPr>
              <a:t>حافظه اصلی (RAM)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4850" y="3724275"/>
            <a:ext cx="30670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نگهداری موقت داده‌ها؛ با قطع برق اطلاعات پاک می‌شود.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697" y="3305175"/>
            <a:ext cx="322040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F172A"/>
                </a:solidFill>
                <a:latin typeface="Vazirmatn"/>
              </a:rPr>
              <a:t>مادربرد و کارت گرافیک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724275"/>
            <a:ext cx="30670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بردهای اتصال قطعات و پردازش تصویر برای نمایش.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81275"/>
            <a:ext cx="5334000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876675"/>
            <a:ext cx="5334000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781175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9052" y="457200"/>
            <a:ext cx="1162145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0F172A"/>
                </a:solidFill>
                <a:latin typeface="Vazirmatn"/>
              </a:rPr>
              <a:t>ساختار داخلی و ارتقای قطعات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4347" y="2809875"/>
            <a:ext cx="522065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سیستم خنک‌کننده (فن)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3190875"/>
            <a:ext cx="49720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Vazirmatn"/>
              </a:rPr>
              <a:t>جلوگیری از گرمای بیش از حد پردازنده و آسیب به قطعات.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347" y="4105275"/>
            <a:ext cx="522065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ارتقای سخت‌افزار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486275"/>
            <a:ext cx="49720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Vazirmatn"/>
              </a:rPr>
              <a:t>تعویض رم یا هارددیسک برای افزایش سرعت و بهبود کارایی.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77200" y="3038475"/>
            <a:ext cx="35052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38475"/>
            <a:ext cx="35052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38475"/>
            <a:ext cx="35052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39052" y="457200"/>
            <a:ext cx="1162145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0F172A"/>
                </a:solidFill>
                <a:latin typeface="Vazirmatn"/>
              </a:rPr>
              <a:t>دستگاه‌های جانبی: ورودی، خروجی و ذخیره‌سازی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5297" y="3305175"/>
            <a:ext cx="322040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ورودی (Input)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8650" y="3724275"/>
            <a:ext cx="30670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کیبورد، ماوس، میکروفون و اسکنر برای ورود اطلاعات.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1497" y="3305175"/>
            <a:ext cx="322040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خروجی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4850" y="3724275"/>
            <a:ext cx="30670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مانیتور، پرینتر و بلندگو برای نمایش و ارائه نتایج.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697" y="3305175"/>
            <a:ext cx="322040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ذخیره‌سازی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724275"/>
            <a:ext cx="30670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هارددیسک، فلش مموری و SSD برای نگهداری دائمی فایل‌ها.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81275"/>
            <a:ext cx="5334000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876675"/>
            <a:ext cx="5334000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781175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9052" y="457200"/>
            <a:ext cx="1162145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0F172A"/>
                </a:solidFill>
                <a:latin typeface="Vazirmatn"/>
              </a:rPr>
              <a:t>تجهیزات و ارتباطات جانبی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4347" y="2809875"/>
            <a:ext cx="522065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درگاه‌های ارتباطی (Ports)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3190875"/>
            <a:ext cx="49720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Vazirmatn"/>
              </a:rPr>
              <a:t>اتصال لوازم جانبی با کابل‌های USB، HDMI و سایر پورت‌ها.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347" y="4105275"/>
            <a:ext cx="522065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ارتباط بی‌سیم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486275"/>
            <a:ext cx="49720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Vazirmatn"/>
              </a:rPr>
              <a:t>استفاده از بلوتوث و وای‌فای برای ارتباط بدون سیم ابزارها.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0300" y="3171825"/>
            <a:ext cx="5372100" cy="12192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71825"/>
            <a:ext cx="5372100" cy="12192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39052" y="457200"/>
            <a:ext cx="1162145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0F172A"/>
                </a:solidFill>
                <a:latin typeface="Vazirmatn"/>
              </a:rPr>
              <a:t>نرم‌افزار؛ روح و فرمانده رایانه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5052" y="3438525"/>
            <a:ext cx="518064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سیستم‌عامل (OS)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3857625"/>
            <a:ext cx="49339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مدیریت سخت‌افزار و بستر اجرای برنامه‌ها (مثل ویندوز).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352" y="3438525"/>
            <a:ext cx="518064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نرم‌افزارهای کاربردی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857625"/>
            <a:ext cx="49339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برنامه‌های طراحی، واژه‌پرداز، مرورگرها و ابزارهای آموزشی.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81275"/>
            <a:ext cx="5334000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876675"/>
            <a:ext cx="5334000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781175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9052" y="457200"/>
            <a:ext cx="1162145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0F172A"/>
                </a:solidFill>
                <a:latin typeface="Vazirmatn"/>
              </a:rPr>
              <a:t>نقاشی دیجیتال و ابزارهای خلاقانه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4347" y="2809875"/>
            <a:ext cx="522065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برنامه نقاشی (Paint)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3190875"/>
            <a:ext cx="49720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Vazirmatn"/>
              </a:rPr>
              <a:t>آشنایی با ابزارهای طراحی، رنگ‌آمیزی و ویرایش تصاویر در رایانه.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347" y="4105275"/>
            <a:ext cx="522065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اشتراک‌گذاری آثار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486275"/>
            <a:ext cx="49720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Vazirmatn"/>
              </a:rPr>
              <a:t>ارسال فایل‌های تولید شده در گروه‌های آموزشی و کلاسی.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8400" y="2581275"/>
            <a:ext cx="5334000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876675"/>
            <a:ext cx="5334000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81175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9052" y="457200"/>
            <a:ext cx="1162145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0F172A"/>
                </a:solidFill>
                <a:latin typeface="Vazirmatn"/>
              </a:rPr>
              <a:t>خانه‌های هوشمند و اینترنت اشیاء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33147" y="2809875"/>
            <a:ext cx="522065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کنترل از راه دور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3190875"/>
            <a:ext cx="49720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Vazirmatn"/>
              </a:rPr>
              <a:t>مدیریت روشنایی، دما و امنیت منزل با تلفن همراه.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3147" y="4105275"/>
            <a:ext cx="522065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سنسورهای هوشمند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4486275"/>
            <a:ext cx="49720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Vazirmatn"/>
              </a:rPr>
              <a:t>حسگرهای حرکتی، دود و دما برای افزایش ایمنی خانه.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0300" y="3171825"/>
            <a:ext cx="5372100" cy="12192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71825"/>
            <a:ext cx="5372100" cy="12192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39052" y="457200"/>
            <a:ext cx="1162145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0F172A"/>
                </a:solidFill>
                <a:latin typeface="Vazirmatn"/>
              </a:rPr>
              <a:t>رایانه‌ها در پزشکی و سلامت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5052" y="3438525"/>
            <a:ext cx="518064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تجهیزات پزشکی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3857625"/>
            <a:ext cx="49339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دستگاه‌های تصویربرداری، آزمایشگاه و پایش علائم حیاتی.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352" y="3438525"/>
            <a:ext cx="518064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ساعت‌های هوشمند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857625"/>
            <a:ext cx="49339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بررسی ضربان قلب، کالری مصرفی و وضعیت تحرک روزانه.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0300" y="3171825"/>
            <a:ext cx="5372100" cy="12192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71825"/>
            <a:ext cx="5372100" cy="12192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39052" y="457200"/>
            <a:ext cx="1162145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0F172A"/>
                </a:solidFill>
                <a:latin typeface="Vazirmatn"/>
              </a:rPr>
              <a:t>فناوری نرم در مدیریت شهری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5052" y="3438525"/>
            <a:ext cx="518064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مدیریت ترافیک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3857625"/>
            <a:ext cx="49339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سامانه‌های هوشمند کنترل چهارراه‌ها و طرح ترافیک.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352" y="3438525"/>
            <a:ext cx="518064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خدمات الکترونیک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857625"/>
            <a:ext cx="49339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پرداخت قبوض، خریدهای اینترنتی و خدمات بانکی آنلاین.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81275"/>
            <a:ext cx="5334000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876675"/>
            <a:ext cx="5334000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781175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9052" y="457200"/>
            <a:ext cx="1162145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0F172A"/>
                </a:solidFill>
                <a:latin typeface="Vazirmatn"/>
              </a:rPr>
              <a:t>امنیت سایبری و حفاظت اطلاعات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4347" y="2809875"/>
            <a:ext cx="522065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رمز عبور ایمن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3190875"/>
            <a:ext cx="49720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Vazirmatn"/>
              </a:rPr>
              <a:t>استفاده از ترکیب حروف و اعداد و خودداری از افشای اطلاعات شخصی.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347" y="4105275"/>
            <a:ext cx="522065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هشدار ایمیل‌های مشکوک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486275"/>
            <a:ext cx="49720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Vazirmatn"/>
              </a:rPr>
              <a:t>پرهیز از کلیک روی لینک‌های ناشناس (فیشینگ) و به‌روزرسانی نرم‌افزارها.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0300" y="3038475"/>
            <a:ext cx="53721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71825"/>
            <a:ext cx="5372100" cy="12192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39052" y="457200"/>
            <a:ext cx="1162145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0F172A"/>
                </a:solidFill>
                <a:latin typeface="Vazirmatn"/>
              </a:rPr>
              <a:t>حفظ تعادل در استفاده از ابزار دیجیتال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5052" y="3305175"/>
            <a:ext cx="518064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استراحت به چشم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3724275"/>
            <a:ext cx="49339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نگاه طولانی به صفحه نمایش آسیب‌زننده است؛ استراحت‌های کوتاه داشته باشید.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352" y="3438525"/>
            <a:ext cx="518064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0369A1"/>
                </a:solidFill>
                <a:latin typeface="Vazirmatn"/>
              </a:rPr>
              <a:t>مدیریت زمان خواب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857625"/>
            <a:ext cx="49339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Vazirmatn"/>
              </a:rPr>
              <a:t>کاهش استفاده از رایانه و گوشی در ساعات پایانی شب و پیش از خواب.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77200" y="3262312"/>
            <a:ext cx="3505200" cy="1038225"/>
          </a:xfrm>
          <a:prstGeom prst="roundRect">
            <a:avLst>
              <a:gd name="adj" fmla="val 146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62312"/>
            <a:ext cx="3505200" cy="1038225"/>
          </a:xfrm>
          <a:prstGeom prst="roundRect">
            <a:avLst>
              <a:gd name="adj" fmla="val 146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62312"/>
            <a:ext cx="3505200" cy="1038225"/>
          </a:xfrm>
          <a:prstGeom prst="roundRect">
            <a:avLst>
              <a:gd name="adj" fmla="val 146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39052" y="457200"/>
            <a:ext cx="1162145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400" i="0" u="none">
                <a:solidFill>
                  <a:srgbClr val="0F172A"/>
                </a:solidFill>
                <a:latin typeface="Vazirmatn"/>
              </a:rPr>
              <a:t>خلاصه نکات مهم فصل دوم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53387" y="3490912"/>
            <a:ext cx="33004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0369A1"/>
                </a:solidFill>
                <a:latin typeface="Vazirmatn"/>
              </a:rPr>
              <a:t>همه جا رایانه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550" y="3833812"/>
            <a:ext cx="31432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475569"/>
                </a:solidFill>
                <a:latin typeface="Vazirmatn"/>
              </a:rPr>
              <a:t>رایانه‌ها در زندگی مدرن همه‌جا حضور دارند.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9587" y="3490912"/>
            <a:ext cx="33004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0369A1"/>
                </a:solidFill>
                <a:latin typeface="Vazirmatn"/>
              </a:rPr>
              <a:t>سخت‌افزار و نرم‌افزار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6750" y="3833812"/>
            <a:ext cx="31432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475569"/>
                </a:solidFill>
                <a:latin typeface="Vazirmatn"/>
              </a:rPr>
              <a:t>ترکیب اجزای فیزیکی و برنامه‌های کاربردی.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787" y="3490912"/>
            <a:ext cx="33004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0369A1"/>
                </a:solidFill>
                <a:latin typeface="Vazirmatn"/>
              </a:rPr>
              <a:t>امنیت و هوشیاری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3833812"/>
            <a:ext cx="31432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475569"/>
                </a:solidFill>
                <a:latin typeface="Vazirmatn"/>
              </a:rPr>
              <a:t>حفاظت از داده‌ها و استفاده صحیح و متعادل.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587" y="4086225"/>
            <a:ext cx="190500" cy="19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89524" y="2505075"/>
            <a:ext cx="3612951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Vazirmatn"/>
              </a:rPr>
              <a:t>پایان درس دوم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11140" y="3409950"/>
            <a:ext cx="536971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38BDF8"/>
                </a:solidFill>
                <a:latin typeface="Vazirmatn"/>
              </a:rPr>
              <a:t>از همراهی شما در یادگیری دنیای فناوری سپاسگزاریم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20890" y="4048125"/>
            <a:ext cx="1750218" cy="30480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Vazirmatn"/>
              </a:rPr>
              <a:t>پرسش و پاسخ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9334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7049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765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2480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0195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781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781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1076325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0" y="1847850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2619375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0" y="3390900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0" y="4162425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0" y="4933950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067925" y="571500"/>
            <a:ext cx="173021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Vazirmatn"/>
              </a:rPr>
              <a:t>Image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0550" y="1076325"/>
            <a:ext cx="62198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Vazirmatn"/>
              </a:rPr>
              <a:t>https://www.teachhub.com/wp-content/uploads/2020/05/Benefits-of-Technology-in-the-Classroom-scaled.jpg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8700" y="1314450"/>
            <a:ext cx="19716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Vazirmatn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Vazirmatn"/>
              </a:rPr>
              <a:t>www.teachhub.com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1950" y="1847850"/>
            <a:ext cx="64484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Vazirmatn"/>
              </a:rPr>
              <a:t>https://engrary.com/wp-content/uploads/2026/04/Parts-of-a-Computer-With-Names-Functions-and-Images-1.png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850" y="2085975"/>
            <a:ext cx="19145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Vazirmatn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Vazirmatn"/>
              </a:rPr>
              <a:t>www.sowatravel.at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1125" y="2619375"/>
            <a:ext cx="5429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Vazirmatn"/>
              </a:rPr>
              <a:t>https://www.vedantu.com/seo/content-images/9658af56-19b0-44f8-ac3f-322499e6b321_1..png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4425" y="2857500"/>
            <a:ext cx="18859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Vazirmatn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Vazirmatn"/>
              </a:rPr>
              <a:t>www.vedantu.com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0" y="3390900"/>
            <a:ext cx="4524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Vazirmatn"/>
              </a:rPr>
              <a:t>https://www.tutorialspoint.com/computer_concepts/images/windows_screen.jpg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0" y="3629025"/>
            <a:ext cx="22383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Vazirmatn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Vazirmatn"/>
              </a:rPr>
              <a:t>www.tutorialspoint.com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00275" y="4162425"/>
            <a:ext cx="8420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Vazirmatn"/>
              </a:rPr>
              <a:t>https://www.trakaid.com/wp-content/uploads/2026/06/how-iot-devices-are-making-home-automation-and-connected-living-a-reality-in-2020-1.webp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0625" y="4400550"/>
            <a:ext cx="18097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Vazirmatn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Vazirmatn"/>
              </a:rPr>
              <a:t>www.trakaid.com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0225" y="4933950"/>
            <a:ext cx="8820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Vazirmatn"/>
              </a:rPr>
              <a:t>https://img.magnific.com/free-psd/futuristic-glowing-padlock-digital-security-strong-protection-safe-online_191095-90370.jpg?semt=ais_hybrid&amp;w=740&amp;q=80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172075"/>
            <a:ext cx="19335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Vazirmatn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Vazirmatn"/>
              </a:rPr>
              <a:t>www.magnific.com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